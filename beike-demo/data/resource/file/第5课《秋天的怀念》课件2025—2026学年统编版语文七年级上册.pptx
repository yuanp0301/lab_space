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" Type="http://schemas.openxmlformats.org/officeDocument/2006/relationships/slide" Target="slides/slide1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tags" Target="tags/tag1.xml" /><Relationship Id="rId23" Type="http://schemas.openxmlformats.org/officeDocument/2006/relationships/presProps" Target="presProps.xml" /><Relationship Id="rId24" Type="http://schemas.openxmlformats.org/officeDocument/2006/relationships/viewProps" Target="viewProps.xml" /><Relationship Id="rId25" Type="http://schemas.openxmlformats.org/officeDocument/2006/relationships/theme" Target="theme/theme1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image" Target="file:///D:\qq&#25991;&#20214;\712321467\Image\C2C\Image2\%7b75232B38-A165-1FB7-499C-2E1C792CACB5%7d.png" TargetMode="External" /><Relationship Id="rId29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3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 1073743875" descr="学科网 zxxk.com" title=""/>
          <p:cNvPicPr>
            <a:picLocks noChangeAspect="1"/>
          </p:cNvPicPr>
          <p:nvPr/>
        </p:nvPicPr>
        <p:blipFill>
          <a:blip r:embed="rId29" r:link="rId28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image" Target="../media/image4.png" /><Relationship Id="rId5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16" Type="http://schemas.openxmlformats.org/officeDocument/2006/relationships/image" Target="../media/image20.png" /><Relationship Id="rId17" Type="http://schemas.openxmlformats.org/officeDocument/2006/relationships/image" Target="../media/image21.png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22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23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24.png" /><Relationship Id="rId6" Type="http://schemas.openxmlformats.org/officeDocument/2006/relationships/image" Target="../media/image25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image" Target="../media/image6.jpe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2" title=""/>
          <p:cNvPicPr>
            <a:picLocks noChangeAspect="1"/>
          </p:cNvPicPr>
          <p:nvPr/>
        </p:nvPicPr>
        <p:blipFill>
          <a:blip r:embed="rId3"/>
          <a:srcRect l="36451" t="39903"/>
          <a:stretch>
            <a:fillRect/>
          </a:stretch>
        </p:blipFill>
        <p:spPr>
          <a:xfrm>
            <a:off x="7825740" y="1756410"/>
            <a:ext cx="4267200" cy="5101590"/>
          </a:xfrm>
          <a:prstGeom prst="rect">
            <a:avLst/>
          </a:prstGeom>
        </p:spPr>
      </p:pic>
      <p:pic>
        <p:nvPicPr>
          <p:cNvPr id="4" name="图片3" title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" y="324485"/>
            <a:ext cx="8501380" cy="3243580"/>
          </a:xfrm>
          <a:prstGeom prst="rect">
            <a:avLst/>
          </a:prstGeom>
        </p:spPr>
      </p:pic>
      <p:pic>
        <p:nvPicPr>
          <p:cNvPr id="5" name="图片4" title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2994660"/>
            <a:ext cx="3557905" cy="662305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35435" y="378704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27481" y="1265434"/>
            <a:ext cx="10737045" cy="501883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3" y="505101"/>
            <a:ext cx="7332317" cy="756816"/>
            <a:chExt cx="7332317" cy="756816"/>
          </a:xfrm>
        </p:grpSpPr>
        <p:sp>
          <p:nvSpPr>
            <p:cNvPr id="8" name="文本1"/>
            <p:cNvSpPr txBox="1"/>
            <p:nvPr/>
          </p:nvSpPr>
          <p:spPr>
            <a:xfrm>
              <a:off x="587026" y="0"/>
              <a:ext cx="6745291" cy="75681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预习检测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26186"/>
              <a:ext cx="594807" cy="472880"/>
            </a:xfrm>
            <a:prstGeom prst="rect">
              <a:avLst/>
            </a:prstGeom>
          </p:spPr>
        </p:pic>
      </p:grpSp>
      <p:pic>
        <p:nvPicPr>
          <p:cNvPr id="10" name="汉字1" title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40" y="1433560"/>
            <a:ext cx="1994009" cy="1445657"/>
          </a:xfrm>
          <a:prstGeom prst="rect">
            <a:avLst/>
          </a:prstGeom>
        </p:spPr>
      </p:pic>
      <p:pic>
        <p:nvPicPr>
          <p:cNvPr id="11" name="汉字2" title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9558" y="1433998"/>
            <a:ext cx="1994009" cy="1445657"/>
          </a:xfrm>
          <a:prstGeom prst="rect">
            <a:avLst/>
          </a:prstGeom>
        </p:spPr>
      </p:pic>
      <p:pic>
        <p:nvPicPr>
          <p:cNvPr id="12" name="汉字3" title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6476" y="1433960"/>
            <a:ext cx="1994009" cy="1445657"/>
          </a:xfrm>
          <a:prstGeom prst="rect">
            <a:avLst/>
          </a:prstGeom>
        </p:spPr>
      </p:pic>
      <p:pic>
        <p:nvPicPr>
          <p:cNvPr id="13" name="汉字4" title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3394" y="1433751"/>
            <a:ext cx="1994009" cy="1445657"/>
          </a:xfrm>
          <a:prstGeom prst="rect">
            <a:avLst/>
          </a:prstGeom>
        </p:spPr>
      </p:pic>
      <p:pic>
        <p:nvPicPr>
          <p:cNvPr id="14" name="汉字5" title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0312" y="1433598"/>
            <a:ext cx="1994009" cy="1445657"/>
          </a:xfrm>
          <a:prstGeom prst="rect">
            <a:avLst/>
          </a:prstGeom>
        </p:spPr>
      </p:pic>
      <p:pic>
        <p:nvPicPr>
          <p:cNvPr id="15" name="汉字6" title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59" y="3054982"/>
            <a:ext cx="1994009" cy="1445657"/>
          </a:xfrm>
          <a:prstGeom prst="rect">
            <a:avLst/>
          </a:prstGeom>
        </p:spPr>
      </p:pic>
      <p:pic>
        <p:nvPicPr>
          <p:cNvPr id="16" name="汉字7" title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19806" y="3054791"/>
            <a:ext cx="1994009" cy="1445657"/>
          </a:xfrm>
          <a:prstGeom prst="rect">
            <a:avLst/>
          </a:prstGeom>
        </p:spPr>
      </p:pic>
      <p:pic>
        <p:nvPicPr>
          <p:cNvPr id="17" name="汉字8" title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6343" y="3054639"/>
            <a:ext cx="1994009" cy="1445657"/>
          </a:xfrm>
          <a:prstGeom prst="rect">
            <a:avLst/>
          </a:prstGeom>
        </p:spPr>
      </p:pic>
      <p:pic>
        <p:nvPicPr>
          <p:cNvPr id="18" name="汉字9" title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6343" y="3054658"/>
            <a:ext cx="1994009" cy="1445657"/>
          </a:xfrm>
          <a:prstGeom prst="rect">
            <a:avLst/>
          </a:prstGeom>
        </p:spPr>
      </p:pic>
      <p:pic>
        <p:nvPicPr>
          <p:cNvPr id="19" name="汉字10" title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3480" y="3051000"/>
            <a:ext cx="1994009" cy="1445657"/>
          </a:xfrm>
          <a:prstGeom prst="rect">
            <a:avLst/>
          </a:prstGeom>
        </p:spPr>
      </p:pic>
      <p:pic>
        <p:nvPicPr>
          <p:cNvPr id="20" name="汉字11" title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80046" y="3054972"/>
            <a:ext cx="1994009" cy="1445657"/>
          </a:xfrm>
          <a:prstGeom prst="rect">
            <a:avLst/>
          </a:prstGeom>
        </p:spPr>
      </p:pic>
      <p:pic>
        <p:nvPicPr>
          <p:cNvPr id="21" name="汉字12" title="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421" y="4675822"/>
            <a:ext cx="1994009" cy="1445657"/>
          </a:xfrm>
          <a:prstGeom prst="rect">
            <a:avLst/>
          </a:prstGeom>
        </p:spPr>
      </p:pic>
      <p:pic>
        <p:nvPicPr>
          <p:cNvPr id="22" name="汉字13" title="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19596" y="4675632"/>
            <a:ext cx="1994009" cy="1445657"/>
          </a:xfrm>
          <a:prstGeom prst="rect">
            <a:avLst/>
          </a:prstGeom>
        </p:spPr>
      </p:pic>
      <p:pic>
        <p:nvPicPr>
          <p:cNvPr id="23" name="汉字14" title="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16305" y="4676118"/>
            <a:ext cx="3988019" cy="144565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35435" y="378704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27491" y="1141705"/>
            <a:ext cx="10737045" cy="501883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3" y="486070"/>
            <a:ext cx="7332317" cy="756816"/>
            <a:chExt cx="7332317" cy="756816"/>
          </a:xfrm>
        </p:grpSpPr>
        <p:sp>
          <p:nvSpPr>
            <p:cNvPr id="8" name="文本5"/>
            <p:cNvSpPr txBox="1"/>
            <p:nvPr/>
          </p:nvSpPr>
          <p:spPr>
            <a:xfrm>
              <a:off x="587026" y="0"/>
              <a:ext cx="6745291" cy="75681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预习检测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45217"/>
              <a:ext cx="594807" cy="472880"/>
            </a:xfrm>
            <a:prstGeom prst="rect">
              <a:avLst/>
            </a:prstGeom>
          </p:spPr>
        </p:pic>
      </p:grpSp>
      <p:sp>
        <p:nvSpPr>
          <p:cNvPr id="10" name="文本1" title=""/>
          <p:cNvSpPr txBox="1"/>
          <p:nvPr/>
        </p:nvSpPr>
        <p:spPr>
          <a:xfrm>
            <a:off x="740607" y="1242584"/>
            <a:ext cx="10711767" cy="75543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400"/>
              </a:lnSpc>
            </a:pP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侍弄：</a:t>
            </a:r>
            <a:r>
              <a:rPr lang="zh-CN" altLang="en-US" sz="3000" b="1" i="0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常用于描述对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人或事物</a:t>
            </a:r>
            <a:r>
              <a:rPr lang="zh-CN" altLang="en-US" sz="3000" b="1" i="0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照顾、关心、照料</a:t>
            </a:r>
            <a:r>
              <a:rPr lang="zh-CN" altLang="en-US" sz="3000" b="1" i="0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的行为。</a:t>
            </a:r>
            <a:endParaRPr lang="zh-CN" altLang="en-US" sz="3000" b="1" i="0">
              <a:solidFill>
                <a:srgbClr val="0F1115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2" title=""/>
          <p:cNvSpPr txBox="1"/>
          <p:nvPr/>
        </p:nvSpPr>
        <p:spPr>
          <a:xfrm>
            <a:off x="809568" y="2036557"/>
            <a:ext cx="8534590" cy="132037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400"/>
              </a:lnSpc>
            </a:pP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烂漫：形容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花朵鲜艳美丽</a:t>
            </a: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（山花烂漫）</a:t>
            </a:r>
            <a:endParaRPr lang="zh-CN" altLang="en-US" sz="30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4400"/>
              </a:lnSpc>
            </a:pP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形容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人坦率自然</a:t>
            </a: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，不做作（天真烂漫）</a:t>
            </a:r>
            <a:endParaRPr lang="zh-CN" altLang="en-US" sz="30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3" title=""/>
          <p:cNvSpPr txBox="1"/>
          <p:nvPr/>
        </p:nvSpPr>
        <p:spPr>
          <a:xfrm>
            <a:off x="809606" y="3395466"/>
            <a:ext cx="10258425" cy="132037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400"/>
              </a:lnSpc>
            </a:pPr>
            <a:r>
              <a:rPr lang="zh-CN" altLang="en-US" sz="3000" b="1" i="0">
                <a:solidFill>
                  <a:srgbClr val="3333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翻来覆去：原指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来回翻转身体</a:t>
            </a:r>
            <a:r>
              <a:rPr lang="zh-CN" altLang="en-US" sz="3000" b="1" i="0">
                <a:solidFill>
                  <a:srgbClr val="3333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，可描述辗转难眠的状态。后引申为形容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事情多次重复</a:t>
            </a:r>
            <a:r>
              <a:rPr lang="zh-CN" altLang="en-US" sz="3000" b="1" i="0">
                <a:solidFill>
                  <a:srgbClr val="3333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3000" b="1" i="0">
              <a:solidFill>
                <a:srgbClr val="333333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4" title=""/>
          <p:cNvSpPr txBox="1"/>
          <p:nvPr/>
        </p:nvSpPr>
        <p:spPr>
          <a:xfrm>
            <a:off x="809454" y="4754375"/>
            <a:ext cx="10258425" cy="132037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400"/>
              </a:lnSpc>
            </a:pPr>
            <a:r>
              <a:rPr lang="zh-CN" altLang="en-US" sz="3000" b="1" i="0">
                <a:solidFill>
                  <a:srgbClr val="3333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喜出望外：谓所遇超过了所望，因而感到特别高兴。也指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遇到出乎意料的喜事而特别高兴。</a:t>
            </a:r>
            <a:endParaRPr lang="zh-CN" altLang="en-US" sz="3000" b="1" i="0">
              <a:solidFill>
                <a:srgbClr val="FF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35435" y="378704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27481" y="1265434"/>
            <a:ext cx="10737045" cy="501883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3" y="486070"/>
            <a:ext cx="7332317" cy="756816"/>
            <a:chExt cx="7332317" cy="756816"/>
          </a:xfrm>
        </p:grpSpPr>
        <p:sp>
          <p:nvSpPr>
            <p:cNvPr id="8" name="文本9"/>
            <p:cNvSpPr txBox="1"/>
            <p:nvPr/>
          </p:nvSpPr>
          <p:spPr>
            <a:xfrm>
              <a:off x="587026" y="0"/>
              <a:ext cx="6745291" cy="75681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预习检测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45217"/>
              <a:ext cx="594807" cy="472880"/>
            </a:xfrm>
            <a:prstGeom prst="rect">
              <a:avLst/>
            </a:prstGeom>
          </p:spPr>
        </p:pic>
      </p:grpSp>
      <p:sp>
        <p:nvSpPr>
          <p:cNvPr id="10" name="文本1" title=""/>
          <p:cNvSpPr txBox="1"/>
          <p:nvPr/>
        </p:nvSpPr>
        <p:spPr>
          <a:xfrm>
            <a:off x="721500" y="1258624"/>
            <a:ext cx="10749867" cy="1696974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沉寂 VS 寂静</a:t>
            </a:r>
            <a:endParaRPr lang="zh-CN" altLang="en-US" sz="26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/>
            <a:r>
              <a:rPr lang="zh-CN" altLang="en-US" sz="2600" b="1" i="0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1.消息传来，原本喧闹的家里顿时</a:t>
            </a:r>
            <a:r>
              <a:rPr lang="zh-CN" altLang="en-US" sz="2600" b="1" i="0" u="sng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2600" b="1" i="0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下来，只有墙上的钟摆声滴答作响。</a:t>
            </a:r>
            <a:endParaRPr lang="zh-CN" altLang="en-US" sz="2600" b="1" i="0">
              <a:solidFill>
                <a:srgbClr val="0F1115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/>
            <a:r>
              <a:rPr lang="zh-CN" altLang="en-US" sz="2600" b="1" i="0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2.午后的山林格外</a:t>
            </a:r>
            <a:r>
              <a:rPr lang="zh-CN" altLang="en-US" sz="2600" b="1" i="0" u="sng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2600" b="1" i="0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，只能听到风吹过树叶的沙沙声。</a:t>
            </a:r>
            <a:endParaRPr lang="zh-CN" altLang="en-US" sz="2600" b="1" i="0">
              <a:solidFill>
                <a:srgbClr val="0F1115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2" title=""/>
          <p:cNvSpPr txBox="1"/>
          <p:nvPr/>
        </p:nvSpPr>
        <p:spPr>
          <a:xfrm>
            <a:off x="6043660" y="1571511"/>
            <a:ext cx="863790" cy="567118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6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沉寂</a:t>
            </a:r>
            <a:endParaRPr lang="zh-CN" altLang="en-US" sz="2600" b="1" i="0">
              <a:solidFill>
                <a:srgbClr val="3B00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3" title=""/>
          <p:cNvSpPr txBox="1"/>
          <p:nvPr/>
        </p:nvSpPr>
        <p:spPr>
          <a:xfrm>
            <a:off x="3807476" y="2388727"/>
            <a:ext cx="863790" cy="567118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6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寂静</a:t>
            </a:r>
            <a:endParaRPr lang="zh-CN" altLang="en-US" sz="2600" b="1" i="0">
              <a:solidFill>
                <a:srgbClr val="3B00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文本4" title=""/>
          <p:cNvSpPr txBox="1"/>
          <p:nvPr/>
        </p:nvSpPr>
        <p:spPr>
          <a:xfrm>
            <a:off x="829189" y="2933109"/>
            <a:ext cx="10534650" cy="972760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寂静形容环境很安静，通常描写自然景物；沉寂形容非常寂静，</a:t>
            </a:r>
            <a:r>
              <a:rPr lang="zh-CN" altLang="en-US" sz="2700" b="1" i="0" u="sng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常带有孤寂、沉重等情绪</a:t>
            </a:r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，通常描写重大事件后、心情沉重感时。</a:t>
            </a:r>
            <a:endParaRPr lang="zh-CN" altLang="en-US" sz="2700" b="1" i="0">
              <a:solidFill>
                <a:srgbClr val="FF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文本5" title=""/>
          <p:cNvSpPr txBox="1"/>
          <p:nvPr/>
        </p:nvSpPr>
        <p:spPr>
          <a:xfrm>
            <a:off x="829027" y="3906088"/>
            <a:ext cx="10749867" cy="1696974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离别 VS 诀别</a:t>
            </a:r>
            <a:endParaRPr lang="zh-CN" altLang="en-US" sz="26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/>
            <a:r>
              <a:rPr lang="zh-CN" altLang="en-US" sz="2600" b="1" i="0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1.毕业季充满了</a:t>
            </a:r>
            <a:r>
              <a:rPr lang="zh-CN" altLang="en-US" sz="2600" b="1" i="0" u="sng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2600" b="1" i="0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的愁绪，但我们也期待着下一次重逢。</a:t>
            </a:r>
            <a:endParaRPr lang="zh-CN" altLang="en-US" sz="2600" b="1" i="0">
              <a:solidFill>
                <a:srgbClr val="0F1115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/>
            <a:r>
              <a:rPr lang="zh-CN" altLang="en-US" sz="2600" b="1" i="0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2.在生命的最后时刻，她深深地望了孩子们一眼，那眼神是一次无声而沉重的</a:t>
            </a:r>
            <a:r>
              <a:rPr lang="zh-CN" altLang="en-US" sz="2600" b="1" i="0" u="sng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2600" b="1" i="0">
                <a:solidFill>
                  <a:srgbClr val="0F111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600" b="1" i="0">
              <a:solidFill>
                <a:srgbClr val="0F1115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6" title=""/>
          <p:cNvSpPr txBox="1"/>
          <p:nvPr/>
        </p:nvSpPr>
        <p:spPr>
          <a:xfrm>
            <a:off x="3559883" y="4216546"/>
            <a:ext cx="863790" cy="567118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6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离别</a:t>
            </a:r>
            <a:endParaRPr lang="zh-CN" altLang="en-US" sz="2600" b="1" i="0">
              <a:solidFill>
                <a:srgbClr val="3B00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文本7" title=""/>
          <p:cNvSpPr txBox="1"/>
          <p:nvPr/>
        </p:nvSpPr>
        <p:spPr>
          <a:xfrm>
            <a:off x="2342083" y="5036144"/>
            <a:ext cx="863790" cy="567118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6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诀别</a:t>
            </a:r>
            <a:endParaRPr lang="zh-CN" altLang="en-US" sz="2600" b="1" i="0">
              <a:solidFill>
                <a:srgbClr val="3B00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文本8" title=""/>
          <p:cNvSpPr txBox="1"/>
          <p:nvPr/>
        </p:nvSpPr>
        <p:spPr>
          <a:xfrm>
            <a:off x="828513" y="5578573"/>
            <a:ext cx="10534650" cy="581628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7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离别是短暂的分离；而诀别是永久的、最终的分开。</a:t>
            </a:r>
            <a:endParaRPr lang="zh-CN" altLang="en-US" sz="2700" b="1" i="0">
              <a:solidFill>
                <a:srgbClr val="FF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35429" y="423334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27478" y="1254065"/>
            <a:ext cx="10737045" cy="501883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3" y="505101"/>
            <a:ext cx="7332317" cy="756816"/>
            <a:chExt cx="7332317" cy="756816"/>
          </a:xfrm>
        </p:grpSpPr>
        <p:sp>
          <p:nvSpPr>
            <p:cNvPr id="8" name="文本2"/>
            <p:cNvSpPr txBox="1"/>
            <p:nvPr/>
          </p:nvSpPr>
          <p:spPr>
            <a:xfrm>
              <a:off x="587026" y="0"/>
              <a:ext cx="6745291" cy="75681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初读课文，把握情感基调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26186"/>
              <a:ext cx="594807" cy="472880"/>
            </a:xfrm>
            <a:prstGeom prst="rect">
              <a:avLst/>
            </a:prstGeom>
          </p:spPr>
        </p:pic>
      </p:grpSp>
      <p:sp>
        <p:nvSpPr>
          <p:cNvPr id="10" name="文本1" title=""/>
          <p:cNvSpPr txBox="1"/>
          <p:nvPr/>
        </p:nvSpPr>
        <p:spPr>
          <a:xfrm>
            <a:off x="967140" y="1766002"/>
            <a:ext cx="10258425" cy="188530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400"/>
              </a:lnSpc>
            </a:pP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  作为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回忆性散文</a:t>
            </a: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，本文情感基调是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深沉忧伤</a:t>
            </a: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的。请仔细阅读课文，说说你从中读到了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哪些情感</a:t>
            </a: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？（提示：可分别从母亲和作者身上去感受）</a:t>
            </a:r>
            <a:endParaRPr lang="zh-CN" altLang="en-US" sz="30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35429" y="423334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94337" y="1975171"/>
            <a:ext cx="10737215" cy="417068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4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梳理事件，体会情感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grpSp>
        <p:nvGrpSpPr>
          <p:cNvPr id="10" name="组合3" title=""/>
          <p:cNvGrpSpPr/>
          <p:nvPr/>
        </p:nvGrpSpPr>
        <p:grpSpPr>
          <a:xfrm>
            <a:off x="670017" y="1241508"/>
            <a:ext cx="10659110" cy="727671"/>
            <a:chExt cx="10659110" cy="727671"/>
          </a:xfrm>
        </p:grpSpPr>
        <p:sp>
          <p:nvSpPr>
            <p:cNvPr id="11" name="形状4"/>
            <p:cNvSpPr txBox="1"/>
            <p:nvPr/>
          </p:nvSpPr>
          <p:spPr>
            <a:xfrm>
              <a:off x="0" y="0"/>
              <a:ext cx="10659110" cy="551180"/>
            </a:xfrm>
            <a:prstGeom prst="round2SameRect">
              <a:avLst/>
            </a:prstGeom>
            <a:solidFill>
              <a:srgbClr val="D07758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文本5"/>
            <p:cNvSpPr txBox="1"/>
            <p:nvPr/>
          </p:nvSpPr>
          <p:spPr>
            <a:xfrm>
              <a:off x="92859" y="30441"/>
              <a:ext cx="10335895" cy="69723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700"/>
                </a:lnSpc>
              </a:pPr>
              <a:r>
                <a:rPr lang="zh-CN" altLang="en-US" sz="2900" b="1" i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本文写了三次“看花”经历，请结合段落简要概括内容。</a:t>
              </a:r>
              <a:endParaRPr lang="zh-CN" altLang="en-US" sz="2900" b="1" i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" name="文本1" title=""/>
          <p:cNvSpPr txBox="1"/>
          <p:nvPr/>
        </p:nvSpPr>
        <p:spPr>
          <a:xfrm>
            <a:off x="1256319" y="2399567"/>
            <a:ext cx="8941308" cy="62506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第一次看花（1-2段）：母亲提议看花，我</a:t>
            </a:r>
            <a:r>
              <a:rPr lang="zh-CN" altLang="en-US" sz="30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暴怒拒绝</a:t>
            </a:r>
            <a:endParaRPr lang="zh-CN" altLang="en-US" sz="3000" b="1" i="0">
              <a:solidFill>
                <a:srgbClr val="3B00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文本2" title=""/>
          <p:cNvSpPr txBox="1"/>
          <p:nvPr/>
        </p:nvSpPr>
        <p:spPr>
          <a:xfrm>
            <a:off x="1256700" y="3098157"/>
            <a:ext cx="10072611" cy="1059624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第二次看花（3-6段）：母亲央求看花，我</a:t>
            </a:r>
            <a:r>
              <a:rPr lang="zh-CN" altLang="en-US" sz="30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勉强同意</a:t>
            </a: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，但最终因母亲病重逝世没有完成。</a:t>
            </a:r>
            <a:endParaRPr lang="zh-CN" altLang="en-US" sz="30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文本3" title=""/>
          <p:cNvSpPr txBox="1"/>
          <p:nvPr/>
        </p:nvSpPr>
        <p:spPr>
          <a:xfrm>
            <a:off x="1256538" y="4231310"/>
            <a:ext cx="7768590" cy="62506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第三次看花（第7段）：我和妹妹</a:t>
            </a:r>
            <a:r>
              <a:rPr lang="zh-CN" altLang="en-US" sz="30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主动</a:t>
            </a: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去看花</a:t>
            </a:r>
            <a:endParaRPr lang="zh-CN" altLang="en-US" sz="30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35429" y="423334"/>
            <a:ext cx="11321142" cy="6082696"/>
            <a:chExt cx="11321142" cy="6082696"/>
          </a:xfrm>
        </p:grpSpPr>
        <p:sp>
          <p:nvSpPr>
            <p:cNvPr id="4" name="形状3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4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94337" y="1975171"/>
            <a:ext cx="10737215" cy="417068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3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梳理事件，体会情感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grpSp>
        <p:nvGrpSpPr>
          <p:cNvPr id="10" name="组合3" title=""/>
          <p:cNvGrpSpPr/>
          <p:nvPr/>
        </p:nvGrpSpPr>
        <p:grpSpPr>
          <a:xfrm>
            <a:off x="670017" y="1241508"/>
            <a:ext cx="10659110" cy="727671"/>
            <a:chExt cx="10659110" cy="727671"/>
          </a:xfrm>
        </p:grpSpPr>
        <p:sp>
          <p:nvSpPr>
            <p:cNvPr id="11" name="形状5"/>
            <p:cNvSpPr txBox="1"/>
            <p:nvPr/>
          </p:nvSpPr>
          <p:spPr>
            <a:xfrm>
              <a:off x="0" y="0"/>
              <a:ext cx="10659110" cy="551180"/>
            </a:xfrm>
            <a:prstGeom prst="round2SameRect">
              <a:avLst/>
            </a:prstGeom>
            <a:solidFill>
              <a:srgbClr val="D07758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文本4"/>
            <p:cNvSpPr txBox="1"/>
            <p:nvPr/>
          </p:nvSpPr>
          <p:spPr>
            <a:xfrm>
              <a:off x="92859" y="30441"/>
              <a:ext cx="10335895" cy="69723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700"/>
                </a:lnSpc>
              </a:pPr>
              <a:r>
                <a:rPr lang="zh-CN" altLang="en-US" sz="2900" b="1" i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从三次看花经历中，你感受到了作者对母亲怎样的情感？</a:t>
              </a:r>
              <a:endParaRPr lang="zh-CN" altLang="en-US" sz="2900" b="1" i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" name="文本1" title=""/>
          <p:cNvSpPr txBox="1"/>
          <p:nvPr/>
        </p:nvSpPr>
        <p:spPr>
          <a:xfrm>
            <a:off x="856488" y="1968894"/>
            <a:ext cx="10785872" cy="188530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400"/>
              </a:lnSpc>
            </a:pPr>
            <a:r>
              <a:rPr lang="zh-CN" altLang="en-US" sz="30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看着三轮车远去，也绝没有想到那竟是诀别。</a:t>
            </a:r>
            <a:endParaRPr lang="zh-CN" altLang="en-US" sz="3000" b="1" i="0">
              <a:solidFill>
                <a:srgbClr val="3B00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>
              <a:lnSpc>
                <a:spcPts val="4400"/>
              </a:lnSpc>
            </a:pPr>
            <a:r>
              <a:rPr lang="zh-CN" altLang="en-US" sz="30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      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——遗憾未能实现母亲愿望、悔恨于未能回报母亲、母亲逝世的悲痛</a:t>
            </a:r>
            <a:endParaRPr lang="zh-CN" altLang="en-US" sz="3000" b="1" i="0">
              <a:solidFill>
                <a:srgbClr val="FF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文本2" title=""/>
          <p:cNvSpPr txBox="1"/>
          <p:nvPr/>
        </p:nvSpPr>
        <p:spPr>
          <a:xfrm>
            <a:off x="927192" y="3769281"/>
            <a:ext cx="10471547" cy="132037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400"/>
              </a:lnSpc>
            </a:pPr>
            <a:r>
              <a:rPr lang="zh-CN" altLang="en-US" sz="30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我懂得母亲没有说完的话。妹妹也懂。</a:t>
            </a:r>
            <a:endParaRPr lang="zh-CN" altLang="en-US" sz="3000" b="1" i="0">
              <a:solidFill>
                <a:srgbClr val="3B00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>
              <a:lnSpc>
                <a:spcPts val="4400"/>
              </a:lnSpc>
            </a:pPr>
            <a:r>
              <a:rPr lang="zh-CN" altLang="en-US" sz="30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      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——对母亲良苦用心的理解、对母亲的怀念</a:t>
            </a:r>
            <a:endParaRPr lang="zh-CN" altLang="en-US" sz="3000" b="1" i="0">
              <a:solidFill>
                <a:srgbClr val="FF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形状2" title=""/>
          <p:cNvSpPr txBox="1"/>
          <p:nvPr/>
        </p:nvSpPr>
        <p:spPr>
          <a:xfrm>
            <a:off x="1389564" y="5169156"/>
            <a:ext cx="8613396" cy="599607"/>
          </a:xfrm>
          <a:prstGeom prst="rect">
            <a:avLst/>
          </a:prstGeom>
          <a:solidFill>
            <a:srgbClr val="FFE1C2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母亲的愿望是什么？母亲的良苦用心是什么？</a:t>
            </a:r>
            <a:endParaRPr lang="zh-CN" altLang="en-US" sz="26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35429" y="423334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27681" y="1975152"/>
            <a:ext cx="10737215" cy="417068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76555"/>
            <a:ext cx="5703582" cy="850900"/>
            <a:chExt cx="5703582" cy="850900"/>
          </a:xfrm>
        </p:grpSpPr>
        <p:sp>
          <p:nvSpPr>
            <p:cNvPr id="8" name="文本3"/>
            <p:cNvSpPr txBox="1"/>
            <p:nvPr/>
          </p:nvSpPr>
          <p:spPr>
            <a:xfrm>
              <a:off x="504520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理解语句，把握情感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54733"/>
              <a:ext cx="548267" cy="472881"/>
            </a:xfrm>
            <a:prstGeom prst="rect">
              <a:avLst/>
            </a:prstGeom>
          </p:spPr>
        </p:pic>
      </p:grpSp>
      <p:grpSp>
        <p:nvGrpSpPr>
          <p:cNvPr id="10" name="组合3" title=""/>
          <p:cNvGrpSpPr/>
          <p:nvPr/>
        </p:nvGrpSpPr>
        <p:grpSpPr>
          <a:xfrm>
            <a:off x="670017" y="1241508"/>
            <a:ext cx="10659110" cy="727671"/>
            <a:chExt cx="10659110" cy="727671"/>
          </a:xfrm>
        </p:grpSpPr>
        <p:sp>
          <p:nvSpPr>
            <p:cNvPr id="11" name="形状4"/>
            <p:cNvSpPr txBox="1"/>
            <p:nvPr/>
          </p:nvSpPr>
          <p:spPr>
            <a:xfrm>
              <a:off x="0" y="0"/>
              <a:ext cx="10659110" cy="551180"/>
            </a:xfrm>
            <a:prstGeom prst="round2SameRect">
              <a:avLst/>
            </a:prstGeom>
            <a:solidFill>
              <a:srgbClr val="D07758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文本4"/>
            <p:cNvSpPr txBox="1"/>
            <p:nvPr/>
          </p:nvSpPr>
          <p:spPr>
            <a:xfrm>
              <a:off x="92859" y="30441"/>
              <a:ext cx="10335895" cy="69723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700"/>
                </a:lnSpc>
              </a:pPr>
              <a:r>
                <a:rPr lang="zh-CN" altLang="en-US" sz="2900" b="1" i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课文中反复出现“好好儿活”，请联系全文说说你的理解。</a:t>
              </a:r>
              <a:endParaRPr lang="zh-CN" altLang="en-US" sz="2900" b="1" i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" name="文本1" title=""/>
          <p:cNvSpPr txBox="1"/>
          <p:nvPr/>
        </p:nvSpPr>
        <p:spPr>
          <a:xfrm>
            <a:off x="1008878" y="2228221"/>
            <a:ext cx="10504884" cy="165932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第1段：母亲扑过来抓住我的手，忍住哭声说：“咱娘儿俩在一块儿，</a:t>
            </a:r>
            <a:r>
              <a:rPr lang="zh-CN" altLang="en-US" sz="2600" b="1" i="0">
                <a:solidFill>
                  <a:srgbClr val="3B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好好儿活，好好儿活</a:t>
            </a:r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……”</a:t>
            </a:r>
            <a:endParaRPr lang="zh-CN" altLang="en-US" sz="26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3800"/>
              </a:lnSpc>
            </a:pPr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第7段：我俩在一块儿，</a:t>
            </a:r>
            <a:r>
              <a:rPr lang="zh-CN" altLang="en-US" sz="2600" b="1" i="0">
                <a:solidFill>
                  <a:srgbClr val="3B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要好好儿活</a:t>
            </a:r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sz="26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2" title=""/>
          <p:cNvSpPr txBox="1"/>
          <p:nvPr/>
        </p:nvSpPr>
        <p:spPr>
          <a:xfrm>
            <a:off x="923201" y="4402950"/>
            <a:ext cx="9953212" cy="567118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6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无论遭受怎样的打击，都能够珍爱生命，勇敢地、积极地活下去。</a:t>
            </a:r>
            <a:endParaRPr lang="zh-CN" altLang="en-US" sz="2600" b="1" i="0">
              <a:solidFill>
                <a:srgbClr val="FF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78860" y="495348"/>
            <a:ext cx="11321142" cy="6082696"/>
            <a:chExt cx="11321142" cy="6082696"/>
          </a:xfrm>
        </p:grpSpPr>
        <p:sp>
          <p:nvSpPr>
            <p:cNvPr id="4" name="形状5"/>
            <p:cNvSpPr txBox="1"/>
            <p:nvPr/>
          </p:nvSpPr>
          <p:spPr>
            <a:xfrm>
              <a:off x="107496" y="104008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6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71049" y="1975209"/>
            <a:ext cx="10737215" cy="417068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3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理解语句，把握情感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grpSp>
        <p:nvGrpSpPr>
          <p:cNvPr id="10" name="组合3" title=""/>
          <p:cNvGrpSpPr/>
          <p:nvPr/>
        </p:nvGrpSpPr>
        <p:grpSpPr>
          <a:xfrm>
            <a:off x="670017" y="1241508"/>
            <a:ext cx="10659110" cy="727671"/>
            <a:chExt cx="10659110" cy="727671"/>
          </a:xfrm>
        </p:grpSpPr>
        <p:sp>
          <p:nvSpPr>
            <p:cNvPr id="11" name="形状7"/>
            <p:cNvSpPr txBox="1"/>
            <p:nvPr/>
          </p:nvSpPr>
          <p:spPr>
            <a:xfrm>
              <a:off x="0" y="0"/>
              <a:ext cx="10659110" cy="551180"/>
            </a:xfrm>
            <a:prstGeom prst="round2SameRect">
              <a:avLst/>
            </a:prstGeom>
            <a:solidFill>
              <a:srgbClr val="D07758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文本4"/>
            <p:cNvSpPr txBox="1"/>
            <p:nvPr/>
          </p:nvSpPr>
          <p:spPr>
            <a:xfrm>
              <a:off x="92859" y="30441"/>
              <a:ext cx="10335895" cy="69723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700"/>
                </a:lnSpc>
              </a:pPr>
              <a:r>
                <a:rPr lang="zh-CN" altLang="en-US" sz="2900" b="1" i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后来的“我”有做到“好好儿活”吗？请从文中找出依据。</a:t>
              </a:r>
              <a:endParaRPr lang="zh-CN" altLang="en-US" sz="2900" b="1" i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" name="文本1" title=""/>
          <p:cNvSpPr txBox="1"/>
          <p:nvPr/>
        </p:nvSpPr>
        <p:spPr>
          <a:xfrm>
            <a:off x="1021394" y="4958677"/>
            <a:ext cx="10278066" cy="100171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【后来】</a:t>
            </a:r>
            <a:r>
              <a:rPr lang="zh-CN" altLang="en-US" sz="28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黄色的花淡雅，白色的花高洁，紫红色的花热烈而深沉，泼泼洒洒，秋风中正开得烂漫。</a:t>
            </a:r>
            <a:endParaRPr lang="zh-CN" altLang="en-US" sz="2800" b="1" i="0">
              <a:solidFill>
                <a:srgbClr val="3B00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文本2" title=""/>
          <p:cNvSpPr txBox="1"/>
          <p:nvPr/>
        </p:nvSpPr>
        <p:spPr>
          <a:xfrm>
            <a:off x="805739" y="2101491"/>
            <a:ext cx="10709072" cy="100171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【之前】望着望着天上</a:t>
            </a:r>
            <a:r>
              <a:rPr lang="zh-CN" altLang="en-US" sz="28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北归的雁阵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，我会突然把面前的玻璃砸碎。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/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那天我又独自坐在屋里，看着</a:t>
            </a:r>
            <a:r>
              <a:rPr lang="zh-CN" altLang="en-US" sz="28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窗外的树叶“唰唰拉拉”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地飘落。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形状2" title=""/>
          <p:cNvSpPr txBox="1"/>
          <p:nvPr/>
        </p:nvSpPr>
        <p:spPr>
          <a:xfrm rot="5400000">
            <a:off x="1104567" y="3742839"/>
            <a:ext cx="1246889" cy="637565"/>
          </a:xfrm>
          <a:custGeom>
            <a:gdLst>
              <a:gd name="connsiteX0" fmla="*/ 864350 w 1246889"/>
              <a:gd name="connsiteY0" fmla="*/ 0 h 637565"/>
              <a:gd name="connsiteX1" fmla="*/ 1246889 w 1246889"/>
              <a:gd name="connsiteY1" fmla="*/ 318783 h 637565"/>
              <a:gd name="connsiteX2" fmla="*/ 864350 w 1246889"/>
              <a:gd name="connsiteY2" fmla="*/ 637565 h 637565"/>
              <a:gd name="connsiteX3" fmla="*/ 864350 w 1246889"/>
              <a:gd name="connsiteY3" fmla="*/ 425044 h 637565"/>
              <a:gd name="connsiteX4" fmla="*/ 0 w 1246889"/>
              <a:gd name="connsiteY4" fmla="*/ 425044 h 637565"/>
              <a:gd name="connsiteX5" fmla="*/ 0 w 1246889"/>
              <a:gd name="connsiteY5" fmla="*/ 212522 h 637565"/>
              <a:gd name="connsiteX6" fmla="*/ 864350 w 1246889"/>
              <a:gd name="connsiteY6" fmla="*/ 212522 h 637565"/>
              <a:gd name="connsiteX7" fmla="*/ 864350 w 1246889"/>
              <a:gd name="connsiteY7" fmla="*/ 0 h 63756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6889" h="637565">
                <a:moveTo>
                  <a:pt x="864350" y="0"/>
                </a:moveTo>
                <a:lnTo>
                  <a:pt x="1246889" y="318783"/>
                </a:lnTo>
                <a:lnTo>
                  <a:pt x="864350" y="637565"/>
                </a:lnTo>
                <a:lnTo>
                  <a:pt x="864350" y="425044"/>
                </a:lnTo>
                <a:lnTo>
                  <a:pt x="0" y="425044"/>
                </a:lnTo>
                <a:lnTo>
                  <a:pt x="0" y="212522"/>
                </a:lnTo>
                <a:lnTo>
                  <a:pt x="864350" y="212522"/>
                </a:lnTo>
                <a:lnTo>
                  <a:pt x="86435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6" name="形状3" title=""/>
          <p:cNvSpPr txBox="1"/>
          <p:nvPr/>
        </p:nvSpPr>
        <p:spPr>
          <a:xfrm>
            <a:off x="6070806" y="3158576"/>
            <a:ext cx="4941018" cy="52346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萧瑟的景物烘托我对生活的绝望</a:t>
            </a:r>
            <a:endParaRPr lang="zh-CN" altLang="en-US" sz="2500" b="1" i="0">
              <a:solidFill>
                <a:srgbClr val="FF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形状4" title=""/>
          <p:cNvSpPr txBox="1"/>
          <p:nvPr/>
        </p:nvSpPr>
        <p:spPr>
          <a:xfrm>
            <a:off x="4538358" y="4226595"/>
            <a:ext cx="6064968" cy="727653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壮美的、充满生命力的景象，写出我对生活重拾希望，体现我内心的坚韧。</a:t>
            </a:r>
            <a:endParaRPr lang="zh-CN" altLang="en-US" sz="2500" b="1" i="0">
              <a:solidFill>
                <a:srgbClr val="FF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78860" y="495348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8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71049" y="1346559"/>
            <a:ext cx="10737218" cy="4799333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2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扩展延伸，了解作者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sp>
        <p:nvSpPr>
          <p:cNvPr id="10" name="文本1" title=""/>
          <p:cNvSpPr txBox="1"/>
          <p:nvPr/>
        </p:nvSpPr>
        <p:spPr>
          <a:xfrm>
            <a:off x="1008869" y="1673885"/>
            <a:ext cx="7038975" cy="4333303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史铁生（1951年1月4日－2010年12月31日），中国作家、散文家，1951年出生于北京市。1967年毕业于清华大学附属中学，1969年去延安一带插队，因双腿瘫痪于1972年回到北京。后来又患肾病并发展到尿毒症，靠着每周3次透析维持生命。2010年12月31日凌晨3时46分，因突发脑溢血逝世，享年59岁。</a:t>
            </a:r>
            <a:endParaRPr lang="zh-CN" altLang="en-US" sz="26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/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史铁生曾是清华大学附属中学的体育特长生，在校期间擅长长跑、跳远和跨栏，曾获校级运动会80米跨栏、跳远项目冠军，被师生称为“小飞人”。</a:t>
            </a:r>
            <a:endParaRPr lang="zh-CN" altLang="en-US" sz="26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2" title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057" y="1673771"/>
            <a:ext cx="2932490" cy="3911213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78860" y="495348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8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71049" y="1346559"/>
            <a:ext cx="10737218" cy="4799333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98746" cy="850900"/>
            <a:chExt cx="5798746" cy="850900"/>
          </a:xfrm>
        </p:grpSpPr>
        <p:sp>
          <p:nvSpPr>
            <p:cNvPr id="8" name="文本2"/>
            <p:cNvSpPr txBox="1"/>
            <p:nvPr/>
          </p:nvSpPr>
          <p:spPr>
            <a:xfrm>
              <a:off x="599684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扩展延伸，了解作者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sp>
        <p:nvSpPr>
          <p:cNvPr id="10" name="文本1" title=""/>
          <p:cNvSpPr txBox="1"/>
          <p:nvPr/>
        </p:nvSpPr>
        <p:spPr>
          <a:xfrm>
            <a:off x="922020" y="1598886"/>
            <a:ext cx="10592981" cy="429554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3000" b="0" i="0">
                <a:solidFill>
                  <a:srgbClr val="543228">
                    <a:alpha val="100000"/>
                  </a:srgbClr>
                </a:solidFill>
                <a:latin typeface="华文新魏" panose="02010800040101010101" charset="-122"/>
                <a:ea typeface="华文新魏" panose="02010800040101010101" charset="-122"/>
              </a:rPr>
              <a:t>       生病也是生活体验的一种，甚或算得一项</a:t>
            </a:r>
            <a:r>
              <a:rPr lang="zh-CN" altLang="en-US" sz="3000" b="0" i="0">
                <a:solidFill>
                  <a:srgbClr val="C55A11">
                    <a:alpha val="100000"/>
                  </a:srgbClr>
                </a:solidFill>
                <a:latin typeface="华文新魏" panose="02010800040101010101" charset="-122"/>
                <a:ea typeface="华文新魏" panose="02010800040101010101" charset="-122"/>
              </a:rPr>
              <a:t>别开生面的游历</a:t>
            </a:r>
            <a:r>
              <a:rPr lang="zh-CN" altLang="en-US" sz="3000" b="0" i="0">
                <a:solidFill>
                  <a:srgbClr val="543228">
                    <a:alpha val="100000"/>
                  </a:srgbClr>
                </a:solidFill>
                <a:latin typeface="华文新魏" panose="02010800040101010101" charset="-122"/>
                <a:ea typeface="华文新魏" panose="02010800040101010101" charset="-122"/>
              </a:rPr>
              <a:t>。刚坐上轮椅时，我老想，不能直立直立行走岂非把人的特点搞丢了？便觉天昏地暗。等到生出褥疮一连数日只能歪七扭八地躺着，才看见端坐的日子其实多么晴朗。后来又患尿毒症，经常昏昏然不能思想，就更加怀念起往日时光。终于醒悟，其实每时每刻我们都是</a:t>
            </a:r>
            <a:r>
              <a:rPr lang="zh-CN" altLang="en-US" sz="3000" b="0" i="0">
                <a:solidFill>
                  <a:srgbClr val="C55A11">
                    <a:alpha val="100000"/>
                  </a:srgbClr>
                </a:solidFill>
                <a:latin typeface="华文新魏" panose="02010800040101010101" charset="-122"/>
                <a:ea typeface="华文新魏" panose="02010800040101010101" charset="-122"/>
              </a:rPr>
              <a:t>幸运的</a:t>
            </a:r>
            <a:r>
              <a:rPr lang="zh-CN" altLang="en-US" sz="3000" b="0" i="0">
                <a:solidFill>
                  <a:srgbClr val="543228">
                    <a:alpha val="100000"/>
                  </a:srgbClr>
                </a:solidFill>
                <a:latin typeface="华文新魏" panose="02010800040101010101" charset="-122"/>
                <a:ea typeface="华文新魏" panose="02010800040101010101" charset="-122"/>
              </a:rPr>
              <a:t>，因为任何灾难的前面都可以加上一个“更”字。</a:t>
            </a:r>
            <a:r>
              <a:rPr lang="zh-CN" altLang="en-US" sz="3000" b="0" i="0">
                <a:solidFill>
                  <a:srgbClr val="C55A11">
                    <a:alpha val="100000"/>
                  </a:srgbClr>
                </a:solidFill>
                <a:latin typeface="华文新魏" panose="02010800040101010101" charset="-122"/>
                <a:ea typeface="华文新魏" panose="02010800040101010101" charset="-122"/>
              </a:rPr>
              <a:t>生病的经验是一步步懂得满足… …</a:t>
            </a:r>
            <a:endParaRPr lang="zh-CN" altLang="en-US" sz="3000" b="0" i="0">
              <a:solidFill>
                <a:srgbClr val="C55A11">
                  <a:alpha val="100000"/>
                </a:srgbClr>
              </a:solidFill>
              <a:latin typeface="华文新魏" panose="02010800040101010101" charset="-122"/>
              <a:ea typeface="华文新魏" panose="02010800040101010101" charset="-122"/>
            </a:endParaRPr>
          </a:p>
          <a:p>
            <a:pPr marL="0" algn="l">
              <a:lnSpc>
                <a:spcPts val="4000"/>
              </a:lnSpc>
            </a:pPr>
            <a:r>
              <a:rPr lang="zh-CN" altLang="en-US" sz="3000" b="0" i="0">
                <a:solidFill>
                  <a:srgbClr val="543228">
                    <a:alpha val="100000"/>
                  </a:srgbClr>
                </a:solidFill>
                <a:latin typeface="华文新魏" panose="02010800040101010101" charset="-122"/>
                <a:ea typeface="华文新魏" panose="02010800040101010101" charset="-122"/>
              </a:rPr>
              <a:t>                                                            ——史铁生《病隙碎笔》</a:t>
            </a:r>
            <a:endParaRPr lang="zh-CN" altLang="en-US" sz="3000" b="0" i="0">
              <a:solidFill>
                <a:srgbClr val="543228">
                  <a:alpha val="100000"/>
                </a:srgbClr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78860" y="495348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8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71001" y="1276960"/>
            <a:ext cx="10737218" cy="4799333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3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品味描写，理解母爱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pic>
        <p:nvPicPr>
          <p:cNvPr id="10" name="图片2" title=""/>
          <p:cNvPicPr>
            <a:picLocks noChangeAspect="1"/>
          </p:cNvPicPr>
          <p:nvPr/>
        </p:nvPicPr>
        <p:blipFill>
          <a:blip r:embed="rId5"/>
          <a:srcRect l="6345" r="11816" b="544"/>
          <a:stretch>
            <a:fillRect/>
          </a:stretch>
        </p:blipFill>
        <p:spPr>
          <a:xfrm>
            <a:off x="7802337" y="1409957"/>
            <a:ext cx="3826421" cy="4672927"/>
          </a:xfrm>
          <a:prstGeom prst="rect">
            <a:avLst/>
          </a:prstGeom>
        </p:spPr>
      </p:pic>
      <p:sp>
        <p:nvSpPr>
          <p:cNvPr id="11" name="文本1" title=""/>
          <p:cNvSpPr txBox="1"/>
          <p:nvPr/>
        </p:nvSpPr>
        <p:spPr>
          <a:xfrm>
            <a:off x="883694" y="1923588"/>
            <a:ext cx="7541895" cy="1471025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5000"/>
              </a:lnSpc>
            </a:pPr>
            <a:r>
              <a:rPr lang="zh-CN" altLang="en-US" sz="3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阅读描写母亲的语句，用</a:t>
            </a:r>
            <a:r>
              <a:rPr lang="zh-CN" altLang="en-US" sz="3400" b="1" i="0">
                <a:solidFill>
                  <a:srgbClr val="3B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文中一个词</a:t>
            </a:r>
            <a:r>
              <a:rPr lang="zh-CN" altLang="en-US" sz="3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形容母亲。</a:t>
            </a:r>
            <a:endParaRPr lang="zh-CN" altLang="en-US" sz="34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2" title=""/>
          <p:cNvSpPr txBox="1"/>
          <p:nvPr/>
        </p:nvSpPr>
        <p:spPr>
          <a:xfrm>
            <a:off x="1674466" y="3733833"/>
            <a:ext cx="5739352" cy="711994"/>
          </a:xfrm>
          <a:prstGeom prst="rect">
            <a:avLst/>
          </a:prstGeom>
          <a:noFill/>
        </p:spPr>
        <p:txBody>
          <a:bodyPr anchor="t"/>
          <a:lstStyle/>
          <a:p>
            <a:pPr marL="0" algn="ctr"/>
            <a:r>
              <a:rPr lang="zh-CN" altLang="en-US" sz="36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这是一位</a:t>
            </a:r>
            <a:r>
              <a:rPr lang="zh-CN" altLang="en-US" sz="3600" b="1" i="0" u="sng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        </a:t>
            </a:r>
            <a:r>
              <a:rPr lang="zh-CN" altLang="en-US" sz="36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的母亲</a:t>
            </a:r>
            <a:endParaRPr lang="zh-CN" altLang="en-US" sz="3600" b="1" i="0">
              <a:solidFill>
                <a:srgbClr val="3B00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79447" y="501907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71049" y="1908553"/>
            <a:ext cx="10737218" cy="4218308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2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品味描写，理解母爱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sp>
        <p:nvSpPr>
          <p:cNvPr id="10" name="文本1" title=""/>
          <p:cNvSpPr txBox="1"/>
          <p:nvPr/>
        </p:nvSpPr>
        <p:spPr>
          <a:xfrm>
            <a:off x="917315" y="2228145"/>
            <a:ext cx="7330135" cy="335422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1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（1）母亲就</a:t>
            </a:r>
            <a:r>
              <a:rPr lang="zh-CN" altLang="en-US" sz="28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悄悄地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躲出去，在我看不见的地方偷偷地听着我的动静。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>
              <a:lnSpc>
                <a:spcPts val="41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（2）当一切恢复沉寂，她又</a:t>
            </a:r>
            <a:r>
              <a:rPr lang="zh-CN" altLang="en-US" sz="28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悄悄地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进来，眼边红红的，看着我。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>
              <a:lnSpc>
                <a:spcPts val="41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（3）对于“跑”和“踩”一类的字眼，她比我还敏感。她又</a:t>
            </a:r>
            <a:r>
              <a:rPr lang="zh-CN" altLang="en-US" sz="28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悄悄地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出去了。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1" name="组合3" title=""/>
          <p:cNvGrpSpPr/>
          <p:nvPr/>
        </p:nvGrpSpPr>
        <p:grpSpPr>
          <a:xfrm>
            <a:off x="648576" y="1241508"/>
            <a:ext cx="10707367" cy="566288"/>
            <a:chExt cx="10707367" cy="566288"/>
          </a:xfrm>
        </p:grpSpPr>
        <p:sp>
          <p:nvSpPr>
            <p:cNvPr id="12" name="形状4"/>
            <p:cNvSpPr txBox="1"/>
            <p:nvPr/>
          </p:nvSpPr>
          <p:spPr>
            <a:xfrm>
              <a:off x="21441" y="0"/>
              <a:ext cx="10659110" cy="551180"/>
            </a:xfrm>
            <a:prstGeom prst="round2SameRect">
              <a:avLst/>
            </a:prstGeom>
            <a:solidFill>
              <a:srgbClr val="D07758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3"/>
            <p:cNvSpPr txBox="1"/>
            <p:nvPr/>
          </p:nvSpPr>
          <p:spPr>
            <a:xfrm>
              <a:off x="0" y="30441"/>
              <a:ext cx="10707367" cy="535847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700"/>
                </a:lnSpc>
              </a:pPr>
              <a:r>
                <a:rPr lang="zh-CN" altLang="en-US" sz="2900" b="1" i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请结合语境，分别理解这三处“悄悄地”中母亲的内心感受。</a:t>
              </a:r>
              <a:endParaRPr lang="zh-CN" altLang="en-US" sz="2900" b="1" i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组合4" title=""/>
          <p:cNvGrpSpPr/>
          <p:nvPr/>
        </p:nvGrpSpPr>
        <p:grpSpPr>
          <a:xfrm>
            <a:off x="8285311" y="2447742"/>
            <a:ext cx="2842535" cy="645506"/>
            <a:chExt cx="2842535" cy="645506"/>
          </a:xfrm>
        </p:grpSpPr>
        <p:sp>
          <p:nvSpPr>
            <p:cNvPr id="15" name="形状5"/>
            <p:cNvSpPr txBox="1"/>
            <p:nvPr/>
          </p:nvSpPr>
          <p:spPr>
            <a:xfrm>
              <a:off x="0" y="25045"/>
              <a:ext cx="2715822" cy="53805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F0000">
                  <a:alpha val="100000"/>
                </a:srgbClr>
              </a:solidFill>
              <a:prstDash val="sysDash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6" name="文本4"/>
            <p:cNvSpPr txBox="1"/>
            <p:nvPr/>
          </p:nvSpPr>
          <p:spPr>
            <a:xfrm>
              <a:off x="13491" y="0"/>
              <a:ext cx="2829044" cy="6455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500"/>
                </a:lnSpc>
              </a:pPr>
              <a:r>
                <a:rPr lang="zh-CN" altLang="en-US" sz="2700" b="1" i="0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体谅孩子的痛苦</a:t>
              </a:r>
              <a:endPara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5" title=""/>
          <p:cNvGrpSpPr/>
          <p:nvPr/>
        </p:nvGrpSpPr>
        <p:grpSpPr>
          <a:xfrm>
            <a:off x="8285311" y="3469775"/>
            <a:ext cx="2843078" cy="645506"/>
            <a:chExt cx="2843078" cy="645506"/>
          </a:xfrm>
        </p:grpSpPr>
        <p:sp>
          <p:nvSpPr>
            <p:cNvPr id="18" name="形状6"/>
            <p:cNvSpPr txBox="1"/>
            <p:nvPr/>
          </p:nvSpPr>
          <p:spPr>
            <a:xfrm>
              <a:off x="0" y="27027"/>
              <a:ext cx="2763706" cy="5806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F0000">
                  <a:alpha val="100000"/>
                </a:srgbClr>
              </a:solidFill>
              <a:prstDash val="sysDash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9" name="文本5"/>
            <p:cNvSpPr txBox="1"/>
            <p:nvPr/>
          </p:nvSpPr>
          <p:spPr>
            <a:xfrm>
              <a:off x="13726" y="0"/>
              <a:ext cx="2829352" cy="6455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500"/>
                </a:lnSpc>
              </a:pPr>
              <a:r>
                <a:rPr lang="zh-CN" altLang="en-US" sz="2700" b="1" i="0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担忧孩子的状态</a:t>
              </a:r>
              <a:endPara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6" title=""/>
          <p:cNvGrpSpPr/>
          <p:nvPr/>
        </p:nvGrpSpPr>
        <p:grpSpPr>
          <a:xfrm>
            <a:off x="8271558" y="4604595"/>
            <a:ext cx="3084595" cy="645506"/>
            <a:chExt cx="3084595" cy="645506"/>
          </a:xfrm>
        </p:grpSpPr>
        <p:sp>
          <p:nvSpPr>
            <p:cNvPr id="21" name="形状7"/>
            <p:cNvSpPr txBox="1"/>
            <p:nvPr/>
          </p:nvSpPr>
          <p:spPr>
            <a:xfrm>
              <a:off x="71289" y="34182"/>
              <a:ext cx="2763702" cy="5319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F0000">
                  <a:alpha val="100000"/>
                </a:srgbClr>
              </a:solidFill>
              <a:prstDash val="sysDash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2" name="文本6"/>
            <p:cNvSpPr txBox="1"/>
            <p:nvPr/>
          </p:nvSpPr>
          <p:spPr>
            <a:xfrm>
              <a:off x="0" y="0"/>
              <a:ext cx="3084595" cy="6455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500"/>
                </a:lnSpc>
              </a:pPr>
              <a:r>
                <a:rPr lang="zh-CN" altLang="en-US" sz="2700" b="1" i="0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自责于言语疏忽</a:t>
              </a:r>
              <a:endPara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7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79447" y="501907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71049" y="1908553"/>
            <a:ext cx="10737218" cy="4218308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3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品味描写，理解母爱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sp>
        <p:nvSpPr>
          <p:cNvPr id="10" name="文本1" title=""/>
          <p:cNvSpPr txBox="1"/>
          <p:nvPr/>
        </p:nvSpPr>
        <p:spPr>
          <a:xfrm>
            <a:off x="941718" y="1990211"/>
            <a:ext cx="7330135" cy="335422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1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（1）母亲就</a:t>
            </a:r>
            <a:r>
              <a:rPr lang="zh-CN" altLang="en-US" sz="28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悄悄地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躲出去，在我看不见的地方偷偷地听着我的动静。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>
              <a:lnSpc>
                <a:spcPts val="41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（2）当一切恢复沉寂，她又</a:t>
            </a:r>
            <a:r>
              <a:rPr lang="zh-CN" altLang="en-US" sz="28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悄悄地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进来，眼边红红的，看着我。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>
              <a:lnSpc>
                <a:spcPts val="41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（3）对于“跑”和“踩”一类的字眼，她比我还敏感。她又</a:t>
            </a:r>
            <a:r>
              <a:rPr lang="zh-CN" altLang="en-US" sz="28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悄悄地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出去了。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1" name="组合3" title=""/>
          <p:cNvGrpSpPr/>
          <p:nvPr/>
        </p:nvGrpSpPr>
        <p:grpSpPr>
          <a:xfrm>
            <a:off x="648576" y="1241508"/>
            <a:ext cx="10707367" cy="566288"/>
            <a:chExt cx="10707367" cy="566288"/>
          </a:xfrm>
        </p:grpSpPr>
        <p:sp>
          <p:nvSpPr>
            <p:cNvPr id="12" name="形状4"/>
            <p:cNvSpPr txBox="1"/>
            <p:nvPr/>
          </p:nvSpPr>
          <p:spPr>
            <a:xfrm>
              <a:off x="21441" y="0"/>
              <a:ext cx="10659110" cy="551180"/>
            </a:xfrm>
            <a:prstGeom prst="round2SameRect">
              <a:avLst/>
            </a:prstGeom>
            <a:solidFill>
              <a:srgbClr val="D07758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4"/>
            <p:cNvSpPr txBox="1"/>
            <p:nvPr/>
          </p:nvSpPr>
          <p:spPr>
            <a:xfrm>
              <a:off x="0" y="30441"/>
              <a:ext cx="10707367" cy="535847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700"/>
                </a:lnSpc>
              </a:pPr>
              <a:r>
                <a:rPr lang="zh-CN" altLang="en-US" sz="2900" b="1" i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请结合语境，这三处“悄悄地”共同体现出了母亲怎样的特点？</a:t>
              </a:r>
              <a:endParaRPr lang="zh-CN" altLang="en-US" sz="2900" b="1" i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组合4" title=""/>
          <p:cNvGrpSpPr/>
          <p:nvPr/>
        </p:nvGrpSpPr>
        <p:grpSpPr>
          <a:xfrm>
            <a:off x="8285311" y="2090834"/>
            <a:ext cx="2842535" cy="645506"/>
            <a:chExt cx="2842535" cy="645506"/>
          </a:xfrm>
        </p:grpSpPr>
        <p:sp>
          <p:nvSpPr>
            <p:cNvPr id="15" name="形状5"/>
            <p:cNvSpPr txBox="1"/>
            <p:nvPr/>
          </p:nvSpPr>
          <p:spPr>
            <a:xfrm>
              <a:off x="0" y="25044"/>
              <a:ext cx="2715822" cy="53805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F0000">
                  <a:alpha val="100000"/>
                </a:srgbClr>
              </a:solidFill>
              <a:prstDash val="sysDash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6" name="文本5"/>
            <p:cNvSpPr txBox="1"/>
            <p:nvPr/>
          </p:nvSpPr>
          <p:spPr>
            <a:xfrm>
              <a:off x="13491" y="0"/>
              <a:ext cx="2829044" cy="6455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500"/>
                </a:lnSpc>
              </a:pPr>
              <a:r>
                <a:rPr lang="zh-CN" altLang="en-US" sz="2700" b="1" i="0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体谅孩子的痛苦</a:t>
              </a:r>
              <a:endPara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5" title=""/>
          <p:cNvGrpSpPr/>
          <p:nvPr/>
        </p:nvGrpSpPr>
        <p:grpSpPr>
          <a:xfrm>
            <a:off x="8285311" y="3112866"/>
            <a:ext cx="2843078" cy="645506"/>
            <a:chExt cx="2843078" cy="645506"/>
          </a:xfrm>
        </p:grpSpPr>
        <p:sp>
          <p:nvSpPr>
            <p:cNvPr id="18" name="形状6"/>
            <p:cNvSpPr txBox="1"/>
            <p:nvPr/>
          </p:nvSpPr>
          <p:spPr>
            <a:xfrm>
              <a:off x="0" y="27028"/>
              <a:ext cx="2763706" cy="5806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F0000">
                  <a:alpha val="100000"/>
                </a:srgbClr>
              </a:solidFill>
              <a:prstDash val="sysDash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9" name="文本6"/>
            <p:cNvSpPr txBox="1"/>
            <p:nvPr/>
          </p:nvSpPr>
          <p:spPr>
            <a:xfrm>
              <a:off x="13726" y="0"/>
              <a:ext cx="2829352" cy="6455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500"/>
                </a:lnSpc>
              </a:pPr>
              <a:r>
                <a:rPr lang="zh-CN" altLang="en-US" sz="2700" b="1" i="0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担忧孩子的状态</a:t>
              </a:r>
              <a:endPara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6" title=""/>
          <p:cNvGrpSpPr/>
          <p:nvPr/>
        </p:nvGrpSpPr>
        <p:grpSpPr>
          <a:xfrm>
            <a:off x="8271558" y="4247686"/>
            <a:ext cx="3084595" cy="645506"/>
            <a:chExt cx="3084595" cy="645506"/>
          </a:xfrm>
        </p:grpSpPr>
        <p:sp>
          <p:nvSpPr>
            <p:cNvPr id="21" name="形状7"/>
            <p:cNvSpPr txBox="1"/>
            <p:nvPr/>
          </p:nvSpPr>
          <p:spPr>
            <a:xfrm>
              <a:off x="71289" y="34183"/>
              <a:ext cx="2763702" cy="5319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F0000">
                  <a:alpha val="100000"/>
                </a:srgbClr>
              </a:solidFill>
              <a:prstDash val="sysDash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2" name="文本7"/>
            <p:cNvSpPr txBox="1"/>
            <p:nvPr/>
          </p:nvSpPr>
          <p:spPr>
            <a:xfrm>
              <a:off x="0" y="0"/>
              <a:ext cx="3084595" cy="64550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500"/>
                </a:lnSpc>
              </a:pPr>
              <a:r>
                <a:rPr lang="zh-CN" altLang="en-US" sz="2700" b="1" i="0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自责于言语疏忽</a:t>
              </a:r>
              <a:endParaRPr lang="zh-CN" altLang="en-US" sz="27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3" name="文本2" title=""/>
          <p:cNvSpPr txBox="1"/>
          <p:nvPr/>
        </p:nvSpPr>
        <p:spPr>
          <a:xfrm>
            <a:off x="1579921" y="5344697"/>
            <a:ext cx="8347519" cy="62506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运用细节描写，生动地展现出母亲的细致隐忍。</a:t>
            </a:r>
            <a:endParaRPr lang="zh-CN" altLang="en-US" sz="3000" b="1" i="0">
              <a:solidFill>
                <a:srgbClr val="FF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79447" y="501926"/>
            <a:ext cx="11321142" cy="6082696"/>
            <a:chExt cx="11321142" cy="6082696"/>
          </a:xfrm>
        </p:grpSpPr>
        <p:sp>
          <p:nvSpPr>
            <p:cNvPr id="4" name="形状4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5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71049" y="1346578"/>
            <a:ext cx="10737218" cy="4780283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4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品味描写，理解母爱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sp>
        <p:nvSpPr>
          <p:cNvPr id="10" name="文本1" title=""/>
          <p:cNvSpPr txBox="1"/>
          <p:nvPr/>
        </p:nvSpPr>
        <p:spPr>
          <a:xfrm>
            <a:off x="806529" y="1340167"/>
            <a:ext cx="10667409" cy="1772364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1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知识链接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41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细节描写是指</a:t>
            </a:r>
            <a:r>
              <a:rPr lang="zh-CN" altLang="en-US" sz="2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抓住生活中细微而又具体的典型情节，加以生动细致的描绘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，它具体渗透在对</a:t>
            </a:r>
            <a:r>
              <a:rPr lang="zh-CN" altLang="en-US" sz="28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人物、景物或场面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的描写之中。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2" title=""/>
          <p:cNvSpPr txBox="1"/>
          <p:nvPr/>
        </p:nvSpPr>
        <p:spPr>
          <a:xfrm>
            <a:off x="923201" y="3154483"/>
            <a:ext cx="10458450" cy="177236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1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请找出这两句话中的细节描写之处：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>
              <a:lnSpc>
                <a:spcPts val="41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母亲就</a:t>
            </a:r>
            <a:r>
              <a:rPr lang="zh-CN" altLang="en-US" sz="28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悄悄地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躲出去，在我看不见的地方偷偷地听着我的动静。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0" algn="l">
              <a:lnSpc>
                <a:spcPts val="4100"/>
              </a:lnSpc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当一切恢复沉寂，她又</a:t>
            </a:r>
            <a:r>
              <a:rPr lang="zh-CN" altLang="en-US" sz="2800" b="1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悄悄地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进来，眼边红红的，看着我。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形状2" title=""/>
          <p:cNvSpPr txBox="1"/>
          <p:nvPr/>
        </p:nvSpPr>
        <p:spPr>
          <a:xfrm>
            <a:off x="7537913" y="3798030"/>
            <a:ext cx="1085002" cy="532924"/>
          </a:xfrm>
          <a:custGeom>
            <a:gdLst>
              <a:gd name="connsiteX0" fmla="*/ 542501 w 1085002"/>
              <a:gd name="connsiteY0" fmla="*/ 0 h 532924"/>
              <a:gd name="connsiteX1" fmla="*/ 842116 w 1085002"/>
              <a:gd name="connsiteY1" fmla="*/ 0 h 532924"/>
              <a:gd name="connsiteX2" fmla="*/ 1085002 w 1085002"/>
              <a:gd name="connsiteY2" fmla="*/ 413625 h 532924"/>
              <a:gd name="connsiteX3" fmla="*/ 242886 w 1085002"/>
              <a:gd name="connsiteY3" fmla="*/ 532924 h 532924"/>
              <a:gd name="connsiteX4" fmla="*/ 0 w 1085002"/>
              <a:gd name="connsiteY4" fmla="*/ 119299 h 53292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5002" h="532924">
                <a:moveTo>
                  <a:pt x="542501" y="0"/>
                </a:moveTo>
                <a:cubicBezTo>
                  <a:pt x="842116" y="0"/>
                  <a:pt x="1085002" y="119299"/>
                  <a:pt x="1085002" y="266462"/>
                </a:cubicBezTo>
                <a:cubicBezTo>
                  <a:pt x="1085002" y="413625"/>
                  <a:pt x="842116" y="532924"/>
                  <a:pt x="542501" y="532924"/>
                </a:cubicBezTo>
                <a:cubicBezTo>
                  <a:pt x="242886" y="532924"/>
                  <a:pt x="0" y="413625"/>
                  <a:pt x="0" y="266462"/>
                </a:cubicBezTo>
                <a:cubicBezTo>
                  <a:pt x="0" y="119299"/>
                  <a:pt x="242886" y="0"/>
                  <a:pt x="542501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3" name="形状3" title=""/>
          <p:cNvSpPr txBox="1"/>
          <p:nvPr/>
        </p:nvSpPr>
        <p:spPr>
          <a:xfrm>
            <a:off x="6662747" y="4359414"/>
            <a:ext cx="1974399" cy="532924"/>
          </a:xfrm>
          <a:custGeom>
            <a:gdLst>
              <a:gd name="connsiteX0" fmla="*/ 987200 w 1974399"/>
              <a:gd name="connsiteY0" fmla="*/ 0 h 532924"/>
              <a:gd name="connsiteX1" fmla="*/ 1532415 w 1974399"/>
              <a:gd name="connsiteY1" fmla="*/ 0 h 532924"/>
              <a:gd name="connsiteX2" fmla="*/ 1974399 w 1974399"/>
              <a:gd name="connsiteY2" fmla="*/ 413625 h 532924"/>
              <a:gd name="connsiteX3" fmla="*/ 441984 w 1974399"/>
              <a:gd name="connsiteY3" fmla="*/ 532924 h 532924"/>
              <a:gd name="connsiteX4" fmla="*/ 0 w 1974399"/>
              <a:gd name="connsiteY4" fmla="*/ 119299 h 53292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4399" h="532924">
                <a:moveTo>
                  <a:pt x="987200" y="0"/>
                </a:moveTo>
                <a:cubicBezTo>
                  <a:pt x="1532415" y="0"/>
                  <a:pt x="1974399" y="119299"/>
                  <a:pt x="1974399" y="266462"/>
                </a:cubicBezTo>
                <a:cubicBezTo>
                  <a:pt x="1974399" y="413625"/>
                  <a:pt x="1532415" y="532924"/>
                  <a:pt x="987200" y="532924"/>
                </a:cubicBezTo>
                <a:cubicBezTo>
                  <a:pt x="441984" y="532924"/>
                  <a:pt x="0" y="413625"/>
                  <a:pt x="0" y="266462"/>
                </a:cubicBezTo>
                <a:cubicBezTo>
                  <a:pt x="0" y="119299"/>
                  <a:pt x="441984" y="0"/>
                  <a:pt x="987200" y="0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w="28575">
            <a:solidFill>
              <a:srgbClr val="FF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4" name="文本3" title=""/>
          <p:cNvSpPr txBox="1"/>
          <p:nvPr/>
        </p:nvSpPr>
        <p:spPr>
          <a:xfrm>
            <a:off x="815464" y="5015694"/>
            <a:ext cx="10851090" cy="100171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8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格式：运用细节描写，体现了</a:t>
            </a:r>
            <a:r>
              <a:rPr lang="zh-CN" altLang="en-US" sz="2800" b="1" i="0" u="sng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人物</a:t>
            </a:r>
            <a:r>
              <a:rPr lang="zh-CN" altLang="en-US" sz="28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XX的特点/性格/精神，表达</a:t>
            </a:r>
            <a:r>
              <a:rPr lang="zh-CN" altLang="en-US" sz="2800" b="1" i="0" u="sng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人物</a:t>
            </a:r>
            <a:r>
              <a:rPr lang="zh-CN" altLang="en-US" sz="28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XX的情感。</a:t>
            </a:r>
            <a:endParaRPr lang="zh-CN" altLang="en-US" sz="2800" b="1" i="0">
              <a:solidFill>
                <a:srgbClr val="FF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79447" y="501907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71658" y="1927584"/>
            <a:ext cx="10737218" cy="4218308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3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品味描写，理解母爱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grpSp>
        <p:nvGrpSpPr>
          <p:cNvPr id="10" name="组合3" title=""/>
          <p:cNvGrpSpPr/>
          <p:nvPr/>
        </p:nvGrpSpPr>
        <p:grpSpPr>
          <a:xfrm>
            <a:off x="679523" y="1157745"/>
            <a:ext cx="10707367" cy="680109"/>
            <a:chExt cx="10707367" cy="680109"/>
          </a:xfrm>
        </p:grpSpPr>
        <p:sp>
          <p:nvSpPr>
            <p:cNvPr id="11" name="形状4"/>
            <p:cNvSpPr txBox="1"/>
            <p:nvPr/>
          </p:nvSpPr>
          <p:spPr>
            <a:xfrm>
              <a:off x="11925" y="64732"/>
              <a:ext cx="10659110" cy="551180"/>
            </a:xfrm>
            <a:prstGeom prst="round2SameRect">
              <a:avLst/>
            </a:prstGeom>
            <a:solidFill>
              <a:srgbClr val="D07758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文本4"/>
            <p:cNvSpPr txBox="1"/>
            <p:nvPr/>
          </p:nvSpPr>
          <p:spPr>
            <a:xfrm>
              <a:off x="0" y="0"/>
              <a:ext cx="10707367" cy="680109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3800"/>
                </a:lnSpc>
              </a:pPr>
              <a:r>
                <a:rPr lang="zh-CN" altLang="en-US" sz="2600" b="1" i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请从描写母亲的语句中，找出一处令你感动的细节，并加以赏析。</a:t>
              </a:r>
              <a:endPara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" name="文本1" title=""/>
          <p:cNvSpPr txBox="1"/>
          <p:nvPr/>
        </p:nvSpPr>
        <p:spPr>
          <a:xfrm>
            <a:off x="966035" y="2047389"/>
            <a:ext cx="10261540" cy="199834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500"/>
              </a:lnSpc>
            </a:pP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【原文】母亲</a:t>
            </a:r>
            <a:r>
              <a:rPr lang="zh-CN" altLang="en-US" sz="2400" b="1" i="0">
                <a:solidFill>
                  <a:srgbClr val="3B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扑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过来</a:t>
            </a:r>
            <a:r>
              <a:rPr lang="zh-CN" altLang="en-US" sz="2400" b="1" i="0">
                <a:solidFill>
                  <a:srgbClr val="3B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抓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住我的手，</a:t>
            </a:r>
            <a:r>
              <a:rPr lang="zh-CN" altLang="en-US" sz="2400" b="1" i="0">
                <a:solidFill>
                  <a:srgbClr val="3B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忍住哭声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说：“咱娘儿俩在一块儿，好好儿活，好好儿活……”</a:t>
            </a:r>
            <a:endParaRPr lang="zh-CN" altLang="en-US" sz="24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algn="l">
              <a:lnSpc>
                <a:spcPts val="3500"/>
              </a:lnSpc>
            </a:pP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【改文】母亲</a:t>
            </a:r>
            <a:r>
              <a:rPr lang="zh-CN" altLang="en-US" sz="2400" b="1" i="0">
                <a:solidFill>
                  <a:srgbClr val="3B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走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过来</a:t>
            </a:r>
            <a:r>
              <a:rPr lang="zh-CN" altLang="en-US" sz="2400" b="1" i="0">
                <a:solidFill>
                  <a:srgbClr val="3B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握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住我的手，</a:t>
            </a:r>
            <a:r>
              <a:rPr lang="zh-CN" altLang="en-US" sz="2400" b="1" i="0">
                <a:solidFill>
                  <a:srgbClr val="3B00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哭着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说：“咱娘儿俩在一块儿，好好儿活，好好儿活……”</a:t>
            </a:r>
            <a:endParaRPr lang="zh-CN" altLang="en-US" sz="24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2" title=""/>
          <p:cNvSpPr txBox="1"/>
          <p:nvPr/>
        </p:nvSpPr>
        <p:spPr>
          <a:xfrm>
            <a:off x="970750" y="4112743"/>
            <a:ext cx="10340026" cy="16028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700"/>
              </a:lnSpc>
            </a:pPr>
            <a:r>
              <a:rPr lang="zh-CN" altLang="en-US" sz="25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运用细节描写，“扑”和“抓”的动作细节体现了母亲制止儿子自残的急切，“忍住哭声”的神态细节体现了母亲的隐忍坚韧，表达出母亲对儿子忧虑和隐忍的爱。</a:t>
            </a:r>
            <a:endParaRPr lang="zh-CN" altLang="en-US" sz="2500" b="1" i="0">
              <a:solidFill>
                <a:srgbClr val="FF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79447" y="501907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71658" y="1927584"/>
            <a:ext cx="10737218" cy="4218308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3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品味描写，理解母爱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grpSp>
        <p:nvGrpSpPr>
          <p:cNvPr id="10" name="组合3" title=""/>
          <p:cNvGrpSpPr/>
          <p:nvPr/>
        </p:nvGrpSpPr>
        <p:grpSpPr>
          <a:xfrm>
            <a:off x="679523" y="1157745"/>
            <a:ext cx="10707367" cy="680109"/>
            <a:chExt cx="10707367" cy="680109"/>
          </a:xfrm>
        </p:grpSpPr>
        <p:sp>
          <p:nvSpPr>
            <p:cNvPr id="11" name="形状4"/>
            <p:cNvSpPr txBox="1"/>
            <p:nvPr/>
          </p:nvSpPr>
          <p:spPr>
            <a:xfrm>
              <a:off x="11925" y="64732"/>
              <a:ext cx="10659110" cy="551180"/>
            </a:xfrm>
            <a:prstGeom prst="round2SameRect">
              <a:avLst/>
            </a:prstGeom>
            <a:solidFill>
              <a:srgbClr val="D07758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文本4"/>
            <p:cNvSpPr txBox="1"/>
            <p:nvPr/>
          </p:nvSpPr>
          <p:spPr>
            <a:xfrm>
              <a:off x="0" y="0"/>
              <a:ext cx="10707367" cy="680109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3800"/>
                </a:lnSpc>
              </a:pPr>
              <a:r>
                <a:rPr lang="zh-CN" altLang="en-US" sz="2600" b="1" i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请从描写母亲的语句中，找出一处令你感动的细节，并加以赏析。</a:t>
              </a:r>
              <a:endPara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" name="文本1" title=""/>
          <p:cNvSpPr txBox="1"/>
          <p:nvPr/>
        </p:nvSpPr>
        <p:spPr>
          <a:xfrm>
            <a:off x="893445" y="2028358"/>
            <a:ext cx="10493712" cy="1169718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母亲进来了，挡在窗前：“北海的菊花开了，我推着你去看看吧。”她憔悴的脸上现出央求般的神色。</a:t>
            </a:r>
            <a:endParaRPr lang="zh-CN" altLang="en-US" sz="26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2" title=""/>
          <p:cNvSpPr txBox="1"/>
          <p:nvPr/>
        </p:nvSpPr>
        <p:spPr>
          <a:xfrm>
            <a:off x="970683" y="3388785"/>
            <a:ext cx="10044751" cy="154638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500"/>
              </a:lnSpc>
            </a:pPr>
            <a:r>
              <a:rPr lang="zh-CN" altLang="en-US" sz="24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“挡”的动作细节，体现母亲对儿子的保护与细心；“去看看吧”的语言细节和“央求”的神态描写，写出母亲商量时卑微的姿态；“憔悴”的神态描写，暗示着母亲身患重病。表达出母亲对儿子深沉无私的爱。</a:t>
            </a:r>
            <a:endParaRPr lang="zh-CN" altLang="en-US" sz="2400" b="1" i="0">
              <a:solidFill>
                <a:srgbClr val="FF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79447" y="501907"/>
            <a:ext cx="11321142" cy="6082696"/>
            <a:chExt cx="11321142" cy="6082696"/>
          </a:xfrm>
        </p:grpSpPr>
        <p:sp>
          <p:nvSpPr>
            <p:cNvPr id="4" name="形状3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4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71658" y="1279884"/>
            <a:ext cx="10737218" cy="4866008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3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品味描写，理解母爱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pic>
        <p:nvPicPr>
          <p:cNvPr id="10" name="图片2" title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2232" y="1954282"/>
            <a:ext cx="4469768" cy="4552559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11" name="文本1" title=""/>
          <p:cNvSpPr txBox="1"/>
          <p:nvPr/>
        </p:nvSpPr>
        <p:spPr>
          <a:xfrm>
            <a:off x="856498" y="2303155"/>
            <a:ext cx="8601075" cy="62506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这是一位</a:t>
            </a:r>
            <a:r>
              <a:rPr lang="zh-CN" altLang="en-US" sz="30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坚强无私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30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细心体贴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30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包容隐忍</a:t>
            </a:r>
            <a:r>
              <a:rPr lang="zh-CN" altLang="en-US" sz="30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的母亲</a:t>
            </a:r>
            <a:endParaRPr lang="zh-CN" altLang="en-US" sz="3000" b="0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2" title=""/>
          <p:cNvSpPr txBox="1"/>
          <p:nvPr/>
        </p:nvSpPr>
        <p:spPr>
          <a:xfrm>
            <a:off x="856412" y="3231032"/>
            <a:ext cx="8267700" cy="62506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这是一份</a:t>
            </a:r>
            <a:r>
              <a:rPr lang="zh-CN" altLang="en-US" sz="3000" b="1" i="0" u="sng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深沉热烈、细腻沉默</a:t>
            </a:r>
            <a:r>
              <a:rPr lang="zh-CN" altLang="en-US" sz="3000" b="0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的母爱</a:t>
            </a:r>
            <a:endParaRPr lang="zh-CN" altLang="en-US" sz="3000" b="0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形状2" title=""/>
          <p:cNvSpPr txBox="1"/>
          <p:nvPr/>
        </p:nvSpPr>
        <p:spPr>
          <a:xfrm>
            <a:off x="1465705" y="4207882"/>
            <a:ext cx="5463082" cy="552019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r>
              <a:rPr lang="zh-CN" altLang="en-US" sz="3500" b="0" i="0">
                <a:solidFill>
                  <a:srgbClr val="3B00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对母爱的歌颂</a:t>
            </a:r>
            <a:endParaRPr lang="zh-CN" altLang="en-US" sz="3500" b="0" i="0">
              <a:solidFill>
                <a:srgbClr val="3B00FF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1899900" y="116078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79447" y="501907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71658" y="1279884"/>
            <a:ext cx="10737218" cy="4866008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2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品味描写，理解母爱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sp>
        <p:nvSpPr>
          <p:cNvPr id="10" name="文本1" title=""/>
          <p:cNvSpPr txBox="1"/>
          <p:nvPr/>
        </p:nvSpPr>
        <p:spPr>
          <a:xfrm>
            <a:off x="1120712" y="1753467"/>
            <a:ext cx="10039350" cy="358011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400"/>
              </a:lnSpc>
            </a:pPr>
            <a:r>
              <a:rPr lang="zh-CN" altLang="en-US" sz="3000" b="1" i="0">
                <a:solidFill>
                  <a:srgbClr val="333333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   有一年，十月的风又翻动起安详的落叶，我在园中读书，听见两个散步的老人说：“没想到这园子有这么大。”我放下书，想，这么大一座园子，要在其中找到她的儿子，母亲走过了多少焦灼的路。</a:t>
            </a:r>
            <a:r>
              <a:rPr lang="zh-CN" altLang="en-US" sz="3000" b="1" i="0">
                <a:solidFill>
                  <a:srgbClr val="FF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多年来我头一次意识到，这园中不单是处处都有过我的车辙，有过我的车辙的地方也都有过母亲的脚印。        </a:t>
            </a:r>
            <a:r>
              <a:rPr lang="zh-CN" altLang="en-US" sz="3000" b="1" i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rPr>
              <a:t>——《我与地坛》</a:t>
            </a:r>
            <a:endParaRPr lang="zh-CN" altLang="en-US" sz="3000" b="1" i="0">
              <a:solidFill>
                <a:srgbClr val="000000">
                  <a:alpha val="100000"/>
                </a:srgb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1" titl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585"/>
          </a:xfrm>
          <a:prstGeom prst="rect">
            <a:avLst/>
          </a:prstGeom>
        </p:spPr>
      </p:pic>
      <p:grpSp>
        <p:nvGrpSpPr>
          <p:cNvPr id="3" name="组合1" title=""/>
          <p:cNvGrpSpPr/>
          <p:nvPr/>
        </p:nvGrpSpPr>
        <p:grpSpPr>
          <a:xfrm>
            <a:off x="479447" y="501907"/>
            <a:ext cx="11321142" cy="6082696"/>
            <a:chExt cx="11321142" cy="6082696"/>
          </a:xfrm>
        </p:grpSpPr>
        <p:sp>
          <p:nvSpPr>
            <p:cNvPr id="4" name="形状2"/>
            <p:cNvSpPr txBox="1"/>
            <p:nvPr/>
          </p:nvSpPr>
          <p:spPr>
            <a:xfrm>
              <a:off x="107496" y="104009"/>
              <a:ext cx="11106150" cy="5874679"/>
            </a:xfrm>
            <a:prstGeom prst="rect">
              <a:avLst/>
            </a:prstGeom>
            <a:solidFill>
              <a:srgbClr val="675849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3"/>
            <p:cNvSpPr txBox="1"/>
            <p:nvPr/>
          </p:nvSpPr>
          <p:spPr>
            <a:xfrm>
              <a:off x="0" y="0"/>
              <a:ext cx="11321142" cy="6082696"/>
            </a:xfrm>
            <a:prstGeom prst="plaque">
              <a:avLst/>
            </a:prstGeom>
            <a:solidFill>
              <a:srgbClr val="FDF8ED">
                <a:alpha val="100000"/>
              </a:srgbClr>
            </a:solidFill>
            <a:ln w="12700">
              <a:solidFill>
                <a:srgbClr val="67584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6" name="形状1" title=""/>
          <p:cNvSpPr txBox="1"/>
          <p:nvPr/>
        </p:nvSpPr>
        <p:spPr>
          <a:xfrm>
            <a:off x="771658" y="1837696"/>
            <a:ext cx="10737218" cy="4308196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D342B">
                <a:alpha val="69803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7" name="组合2" title=""/>
          <p:cNvGrpSpPr/>
          <p:nvPr/>
        </p:nvGrpSpPr>
        <p:grpSpPr>
          <a:xfrm>
            <a:off x="670298" y="495586"/>
            <a:ext cx="5760685" cy="850900"/>
            <a:chExt cx="5760685" cy="850900"/>
          </a:xfrm>
        </p:grpSpPr>
        <p:sp>
          <p:nvSpPr>
            <p:cNvPr id="8" name="文本4"/>
            <p:cNvSpPr txBox="1"/>
            <p:nvPr/>
          </p:nvSpPr>
          <p:spPr>
            <a:xfrm>
              <a:off x="561623" y="0"/>
              <a:ext cx="5199062" cy="85090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400"/>
                </a:lnSpc>
              </a:pPr>
              <a:r>
                <a:rPr lang="zh-CN" altLang="en-US" sz="3700" b="1" i="0">
                  <a:solidFill>
                    <a:srgbClr val="3D342B">
                      <a:alpha val="100000"/>
                    </a:srgbClr>
                  </a:solidFill>
                  <a:latin typeface="楷体" panose="02010609060101010101" charset="-122"/>
                  <a:ea typeface="楷体" panose="02010609060101010101" charset="-122"/>
                </a:rPr>
                <a:t>解读标题，归纳主旨</a:t>
              </a:r>
              <a:endParaRPr lang="zh-CN" altLang="en-US" sz="3700" b="1" i="0">
                <a:solidFill>
                  <a:srgbClr val="3D342B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9" name="图片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35702"/>
              <a:ext cx="548267" cy="472881"/>
            </a:xfrm>
            <a:prstGeom prst="rect">
              <a:avLst/>
            </a:prstGeom>
          </p:spPr>
        </p:pic>
      </p:grpSp>
      <p:grpSp>
        <p:nvGrpSpPr>
          <p:cNvPr id="10" name="组合3" title=""/>
          <p:cNvGrpSpPr/>
          <p:nvPr/>
        </p:nvGrpSpPr>
        <p:grpSpPr>
          <a:xfrm>
            <a:off x="679523" y="1157745"/>
            <a:ext cx="10707367" cy="680109"/>
            <a:chExt cx="10707367" cy="680109"/>
          </a:xfrm>
        </p:grpSpPr>
        <p:sp>
          <p:nvSpPr>
            <p:cNvPr id="11" name="形状4"/>
            <p:cNvSpPr txBox="1"/>
            <p:nvPr/>
          </p:nvSpPr>
          <p:spPr>
            <a:xfrm>
              <a:off x="11925" y="64732"/>
              <a:ext cx="10659110" cy="551180"/>
            </a:xfrm>
            <a:prstGeom prst="round2SameRect">
              <a:avLst/>
            </a:prstGeom>
            <a:solidFill>
              <a:srgbClr val="D07758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文本5"/>
            <p:cNvSpPr txBox="1"/>
            <p:nvPr/>
          </p:nvSpPr>
          <p:spPr>
            <a:xfrm>
              <a:off x="0" y="0"/>
              <a:ext cx="10707367" cy="680109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3800"/>
                </a:lnSpc>
              </a:pPr>
              <a:r>
                <a:rPr lang="zh-CN" altLang="en-US" sz="2600" b="1" i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结合全文，说说《秋天的怀念》这个标题有何含义？</a:t>
              </a:r>
              <a:endParaRPr lang="zh-CN" altLang="en-US" sz="26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" name="文本1" title=""/>
          <p:cNvSpPr txBox="1"/>
          <p:nvPr/>
        </p:nvSpPr>
        <p:spPr>
          <a:xfrm>
            <a:off x="1064190" y="2116395"/>
            <a:ext cx="10224516" cy="64246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500"/>
              </a:lnSpc>
            </a:pP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这个秋天指</a:t>
            </a:r>
            <a:r>
              <a:rPr lang="zh-CN" altLang="en-US" sz="24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母亲去世的秋天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，表达</a:t>
            </a:r>
            <a:r>
              <a:rPr lang="zh-CN" altLang="en-US" sz="24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我对母亲深深的怀念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2" title=""/>
          <p:cNvSpPr txBox="1"/>
          <p:nvPr/>
        </p:nvSpPr>
        <p:spPr>
          <a:xfrm>
            <a:off x="1064066" y="2758666"/>
            <a:ext cx="10134092" cy="154638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500"/>
              </a:lnSpc>
            </a:pP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这个秋天指</a:t>
            </a:r>
            <a:r>
              <a:rPr lang="zh-CN" altLang="en-US" sz="24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我瘫痪的秋天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，这是我</a:t>
            </a:r>
            <a:r>
              <a:rPr lang="zh-CN" altLang="en-US" sz="24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人生中痛苦的秋天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4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“我”怀念的是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镶嵌在那个痛苦秋天里、被苦难衬托得无比</a:t>
            </a:r>
            <a:r>
              <a:rPr lang="zh-CN" altLang="en-US" sz="24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珍贵的母爱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表达我对母爱的强烈赞颂以及对母亲的愧疚。</a:t>
            </a:r>
            <a:endParaRPr lang="zh-CN" altLang="en-US" sz="2400" b="1" i="0">
              <a:solidFill>
                <a:srgbClr val="FF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3" title=""/>
          <p:cNvSpPr txBox="1"/>
          <p:nvPr/>
        </p:nvSpPr>
        <p:spPr>
          <a:xfrm>
            <a:off x="1063885" y="4304545"/>
            <a:ext cx="10134092" cy="154638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500"/>
              </a:lnSpc>
            </a:pP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这个秋天指</a:t>
            </a:r>
            <a:r>
              <a:rPr lang="zh-CN" altLang="en-US" sz="24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我主动去北海看菊花的秋天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，这是我</a:t>
            </a:r>
            <a:r>
              <a:rPr lang="zh-CN" altLang="en-US" sz="24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人生中丰收的秋天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。我以这种方式怀念，传达出</a:t>
            </a:r>
            <a:r>
              <a:rPr lang="zh-CN" altLang="en-US" sz="24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我对母亲的理解、对生命与苦难的理解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，展现出重获</a:t>
            </a:r>
            <a:r>
              <a:rPr lang="zh-CN" altLang="en-US" sz="2400" b="1" i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新生积极进取的人生态度</a:t>
            </a:r>
            <a:r>
              <a:rPr lang="zh-CN" altLang="en-US" sz="2400" b="1" i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i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tags/tag1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</p:tagLst>
</file>

<file path=ppt/theme/theme1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99</Paragraphs>
  <Slides>20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baseType="lpstr" size="27">
      <vt:lpstr>Arial</vt:lpstr>
      <vt:lpstr>等线 Light</vt:lpstr>
      <vt:lpstr>等线</vt:lpstr>
      <vt:lpstr>楷体</vt:lpstr>
      <vt:lpstr>宋体</vt:lpstr>
      <vt:lpstr>华文新魏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2026-01-10T14:18:33.410</cp:lastPrinted>
  <dcterms:created xsi:type="dcterms:W3CDTF">2026-01-10T14:18:33Z</dcterms:created>
  <dcterms:modified xsi:type="dcterms:W3CDTF">2026-01-10T06:18:33Z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